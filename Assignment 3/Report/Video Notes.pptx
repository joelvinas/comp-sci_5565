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5" r:id="rId3"/>
    <p:sldId id="257" r:id="rId4"/>
    <p:sldId id="258" r:id="rId5"/>
    <p:sldId id="259" r:id="rId6"/>
    <p:sldId id="260" r:id="rId7"/>
    <p:sldId id="262" r:id="rId8"/>
    <p:sldId id="263" r:id="rId9"/>
    <p:sldId id="261"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644" autoAdjust="0"/>
  </p:normalViewPr>
  <p:slideViewPr>
    <p:cSldViewPr snapToGrid="0">
      <p:cViewPr varScale="1">
        <p:scale>
          <a:sx n="115" d="100"/>
          <a:sy n="115" d="100"/>
        </p:scale>
        <p:origin x="2016"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EA7E28-1B51-41B0-8D6F-A14AE8A02A2F}"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2D8C70-9A7E-4988-A8C4-551EF6E2E321}" type="slidenum">
              <a:rPr lang="en-US" smtClean="0"/>
              <a:t>‹#›</a:t>
            </a:fld>
            <a:endParaRPr lang="en-US"/>
          </a:p>
        </p:txBody>
      </p:sp>
    </p:spTree>
    <p:extLst>
      <p:ext uri="{BB962C8B-B14F-4D97-AF65-F5344CB8AC3E}">
        <p14:creationId xmlns:p14="http://schemas.microsoft.com/office/powerpoint/2010/main" val="3578537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and the </a:t>
            </a:r>
            <a:r>
              <a:rPr lang="en-US" dirty="0" err="1"/>
              <a:t>colab</a:t>
            </a:r>
            <a:r>
              <a:rPr lang="en-US" dirty="0"/>
              <a:t> code are available via GitHub at the link provided during the submission.</a:t>
            </a:r>
          </a:p>
          <a:p>
            <a:endParaRPr lang="en-US" dirty="0"/>
          </a:p>
          <a:p>
            <a:r>
              <a:rPr lang="en-US" dirty="0"/>
              <a:t>To make the Word Doc, I took screenshots of the Google </a:t>
            </a:r>
            <a:r>
              <a:rPr lang="en-US" dirty="0" err="1"/>
              <a:t>Colab</a:t>
            </a:r>
            <a:r>
              <a:rPr lang="en-US" dirty="0"/>
              <a:t> while in Slides mode and pasted them into a single-column table within MS Word.</a:t>
            </a:r>
          </a:p>
        </p:txBody>
      </p:sp>
      <p:sp>
        <p:nvSpPr>
          <p:cNvPr id="4" name="Slide Number Placeholder 3"/>
          <p:cNvSpPr>
            <a:spLocks noGrp="1"/>
          </p:cNvSpPr>
          <p:nvPr>
            <p:ph type="sldNum" sz="quarter" idx="5"/>
          </p:nvPr>
        </p:nvSpPr>
        <p:spPr/>
        <p:txBody>
          <a:bodyPr/>
          <a:lstStyle/>
          <a:p>
            <a:fld id="{282D8C70-9A7E-4988-A8C4-551EF6E2E321}" type="slidenum">
              <a:rPr lang="en-US" smtClean="0"/>
              <a:t>1</a:t>
            </a:fld>
            <a:endParaRPr lang="en-US"/>
          </a:p>
        </p:txBody>
      </p:sp>
    </p:spTree>
    <p:extLst>
      <p:ext uri="{BB962C8B-B14F-4D97-AF65-F5344CB8AC3E}">
        <p14:creationId xmlns:p14="http://schemas.microsoft.com/office/powerpoint/2010/main" val="3370471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https://medium.com/analytics-vidhya/breast-cancer-diagnostic-dataset-eda-fa0de80f15bd</a:t>
            </a:r>
          </a:p>
        </p:txBody>
      </p:sp>
      <p:sp>
        <p:nvSpPr>
          <p:cNvPr id="4" name="Slide Number Placeholder 3"/>
          <p:cNvSpPr>
            <a:spLocks noGrp="1"/>
          </p:cNvSpPr>
          <p:nvPr>
            <p:ph type="sldNum" sz="quarter" idx="5"/>
          </p:nvPr>
        </p:nvSpPr>
        <p:spPr/>
        <p:txBody>
          <a:bodyPr/>
          <a:lstStyle/>
          <a:p>
            <a:fld id="{282D8C70-9A7E-4988-A8C4-551EF6E2E321}" type="slidenum">
              <a:rPr lang="en-US" smtClean="0"/>
              <a:t>4</a:t>
            </a:fld>
            <a:endParaRPr lang="en-US"/>
          </a:p>
        </p:txBody>
      </p:sp>
    </p:spTree>
    <p:extLst>
      <p:ext uri="{BB962C8B-B14F-4D97-AF65-F5344CB8AC3E}">
        <p14:creationId xmlns:p14="http://schemas.microsoft.com/office/powerpoint/2010/main" val="2559054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2ACFA-330D-089A-62B6-657CAB8E32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BA34DE-3702-7E6C-10DC-D237633F9C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4DAACE-4DDC-0CFA-D488-9403264CD5B0}"/>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5" name="Footer Placeholder 4">
            <a:extLst>
              <a:ext uri="{FF2B5EF4-FFF2-40B4-BE49-F238E27FC236}">
                <a16:creationId xmlns:a16="http://schemas.microsoft.com/office/drawing/2014/main" id="{4CA9F00F-6FF6-CA9C-C5A3-9CFC39CED2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C8576F-1C16-C92A-3F6D-500ABF2A6D22}"/>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3169122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DBA98-240B-F68C-6638-AB7B243AE4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654E27-C68B-4C78-5C80-FDF2FAB446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0C3DFA-369F-AFA1-A0F1-331AFDAB7AF6}"/>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5" name="Footer Placeholder 4">
            <a:extLst>
              <a:ext uri="{FF2B5EF4-FFF2-40B4-BE49-F238E27FC236}">
                <a16:creationId xmlns:a16="http://schemas.microsoft.com/office/drawing/2014/main" id="{FB08C803-FCF9-E60B-AC58-D787806662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608D1C-9471-39A8-8C93-94ECE89A5621}"/>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3688791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E6D83-DEA4-70DF-DE34-8AC5640D1B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3E6D3A-F861-2F9F-7653-C32F3B21D3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E72087-6BD5-70AF-225C-A9BCDFB2FA70}"/>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5" name="Footer Placeholder 4">
            <a:extLst>
              <a:ext uri="{FF2B5EF4-FFF2-40B4-BE49-F238E27FC236}">
                <a16:creationId xmlns:a16="http://schemas.microsoft.com/office/drawing/2014/main" id="{CFF2047D-90EC-FA03-98FD-E7FD8B62D7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AE1C06-DAB0-9BC6-62A2-4B413D56533F}"/>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4015463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25684-B123-ACF9-DCD8-EEF20347FC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12576C-C205-4221-DB92-7FF52651CB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84031C-A3AE-5AEB-A69C-3393513724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434C89-3ACC-6EE4-A56A-4020AC5F7EBD}"/>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6" name="Footer Placeholder 5">
            <a:extLst>
              <a:ext uri="{FF2B5EF4-FFF2-40B4-BE49-F238E27FC236}">
                <a16:creationId xmlns:a16="http://schemas.microsoft.com/office/drawing/2014/main" id="{E061A533-1A58-C5DE-7D5F-264E0CCF50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843BC-AF0E-9E8F-6D19-C88F853AE9BF}"/>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1134287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F1BD2-AC53-7E08-FEA7-66BEA79FEF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A7B2BB-79E7-FA2D-A03B-2A6E50501E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2A4F3-35B3-61F0-5816-BB1B63EEA4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B100D3-DF2F-42CB-CF69-9C92F94D45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B4348E-3756-688F-1366-1B1AA964E0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635A99-F553-647C-B8DD-399720BF68C0}"/>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8" name="Footer Placeholder 7">
            <a:extLst>
              <a:ext uri="{FF2B5EF4-FFF2-40B4-BE49-F238E27FC236}">
                <a16:creationId xmlns:a16="http://schemas.microsoft.com/office/drawing/2014/main" id="{B3CE50BE-887F-CD35-BDD3-652622E73F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C05B432-5203-A7F0-B7EC-2FC1FD821E9E}"/>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682291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68CF3-3900-4FE6-D8F7-CA355E59A6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EEEDF2-38D6-F4CC-67A2-5842AB79915C}"/>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4" name="Footer Placeholder 3">
            <a:extLst>
              <a:ext uri="{FF2B5EF4-FFF2-40B4-BE49-F238E27FC236}">
                <a16:creationId xmlns:a16="http://schemas.microsoft.com/office/drawing/2014/main" id="{A6EBBD60-F94D-244A-0C17-1C4916FC29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F149BC-B95C-859C-067D-33D90B9203B3}"/>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2236151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3A005E-6CCE-7B26-64CE-7C59B0A0CB24}"/>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3" name="Footer Placeholder 2">
            <a:extLst>
              <a:ext uri="{FF2B5EF4-FFF2-40B4-BE49-F238E27FC236}">
                <a16:creationId xmlns:a16="http://schemas.microsoft.com/office/drawing/2014/main" id="{FD8D2B07-86CE-BAD8-72B0-B1F6E75770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7F11C5-26DB-DB89-4F80-A08FFAF80B34}"/>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1434518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822E-9882-A414-1259-0380E7494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3008F3-25D7-F560-B43E-A715AFF517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71243D-11E4-6863-0619-D14B811BCE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5CE317-E759-E4BB-7F0C-F85F5E4EE641}"/>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6" name="Footer Placeholder 5">
            <a:extLst>
              <a:ext uri="{FF2B5EF4-FFF2-40B4-BE49-F238E27FC236}">
                <a16:creationId xmlns:a16="http://schemas.microsoft.com/office/drawing/2014/main" id="{06F0464E-9D86-FEDE-349A-55A1A7027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7FDA2-33BE-2D38-85A5-AA4AEFDE0EE9}"/>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354457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475DF-7645-C3E8-20C1-26478A93AD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FD6E8E-D269-613B-CB49-1853AF7D1B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603827-59C0-A804-8FF2-CEA8BFBAA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9A7993-99C6-0DFF-21C2-03E0A48A1C46}"/>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6" name="Footer Placeholder 5">
            <a:extLst>
              <a:ext uri="{FF2B5EF4-FFF2-40B4-BE49-F238E27FC236}">
                <a16:creationId xmlns:a16="http://schemas.microsoft.com/office/drawing/2014/main" id="{0BA8FAD5-46FC-0B22-2DAA-FEE507F928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40B73A-0252-A141-14E7-8A25EB6770F2}"/>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3076995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9E808-7541-CA13-1260-03FA0A15D0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7E54B1-ECC1-E039-755D-C0C68380D8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4AB6D6-CB7D-EBD2-7AF7-1854A599055E}"/>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5" name="Footer Placeholder 4">
            <a:extLst>
              <a:ext uri="{FF2B5EF4-FFF2-40B4-BE49-F238E27FC236}">
                <a16:creationId xmlns:a16="http://schemas.microsoft.com/office/drawing/2014/main" id="{22C8C793-1585-18B2-CD2B-EEB302F77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74634-688F-0AC8-A3C5-50F9B6C5EFA9}"/>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97360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3B17BE-9345-47CE-CD1F-3B31024BB6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73AB1D-23A8-4C41-9E14-589F522154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28FA1F-F73F-B36F-A252-E2BEBD401AA8}"/>
              </a:ext>
            </a:extLst>
          </p:cNvPr>
          <p:cNvSpPr>
            <a:spLocks noGrp="1"/>
          </p:cNvSpPr>
          <p:nvPr>
            <p:ph type="dt" sz="half" idx="10"/>
          </p:nvPr>
        </p:nvSpPr>
        <p:spPr/>
        <p:txBody>
          <a:bodyPr/>
          <a:lstStyle/>
          <a:p>
            <a:fld id="{2D561530-EADD-4FA7-8BF3-131538A84013}" type="datetimeFigureOut">
              <a:rPr lang="en-US" smtClean="0"/>
              <a:t>12/3/2025</a:t>
            </a:fld>
            <a:endParaRPr lang="en-US"/>
          </a:p>
        </p:txBody>
      </p:sp>
      <p:sp>
        <p:nvSpPr>
          <p:cNvPr id="5" name="Footer Placeholder 4">
            <a:extLst>
              <a:ext uri="{FF2B5EF4-FFF2-40B4-BE49-F238E27FC236}">
                <a16:creationId xmlns:a16="http://schemas.microsoft.com/office/drawing/2014/main" id="{05340198-DFC6-1504-32F5-FF434134D1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530292-0DF4-6DD2-1D49-5854FF172DE1}"/>
              </a:ext>
            </a:extLst>
          </p:cNvPr>
          <p:cNvSpPr>
            <a:spLocks noGrp="1"/>
          </p:cNvSpPr>
          <p:nvPr>
            <p:ph type="sldNum" sz="quarter" idx="12"/>
          </p:nvPr>
        </p:nvSpPr>
        <p:spPr/>
        <p:txBody>
          <a:bodyPr/>
          <a:lstStyle/>
          <a:p>
            <a:fld id="{E4ECC6ED-E256-457B-931A-5D1E919503F9}" type="slidenum">
              <a:rPr lang="en-US" smtClean="0"/>
              <a:t>‹#›</a:t>
            </a:fld>
            <a:endParaRPr lang="en-US"/>
          </a:p>
        </p:txBody>
      </p:sp>
    </p:spTree>
    <p:extLst>
      <p:ext uri="{BB962C8B-B14F-4D97-AF65-F5344CB8AC3E}">
        <p14:creationId xmlns:p14="http://schemas.microsoft.com/office/powerpoint/2010/main" val="3965895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436D35-5B01-D906-03E9-68CEFC0418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4DA1FF-DE31-D0EB-C016-FAB990D381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7D2D83-77AB-CF6E-4977-B466733F83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561530-EADD-4FA7-8BF3-131538A84013}" type="datetimeFigureOut">
              <a:rPr lang="en-US" smtClean="0"/>
              <a:t>12/3/2025</a:t>
            </a:fld>
            <a:endParaRPr lang="en-US"/>
          </a:p>
        </p:txBody>
      </p:sp>
      <p:sp>
        <p:nvSpPr>
          <p:cNvPr id="5" name="Footer Placeholder 4">
            <a:extLst>
              <a:ext uri="{FF2B5EF4-FFF2-40B4-BE49-F238E27FC236}">
                <a16:creationId xmlns:a16="http://schemas.microsoft.com/office/drawing/2014/main" id="{801B73B8-E8F1-59AC-951E-C7967881D6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954E11-34EA-B502-D705-AE2C0D4EE1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ECC6ED-E256-457B-931A-5D1E919503F9}" type="slidenum">
              <a:rPr lang="en-US" smtClean="0"/>
              <a:t>‹#›</a:t>
            </a:fld>
            <a:endParaRPr lang="en-US"/>
          </a:p>
        </p:txBody>
      </p:sp>
    </p:spTree>
    <p:extLst>
      <p:ext uri="{BB962C8B-B14F-4D97-AF65-F5344CB8AC3E}">
        <p14:creationId xmlns:p14="http://schemas.microsoft.com/office/powerpoint/2010/main" val="28401061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9440D-A9B6-E0A6-45BA-96B81E0C1262}"/>
              </a:ext>
            </a:extLst>
          </p:cNvPr>
          <p:cNvSpPr>
            <a:spLocks noGrp="1"/>
          </p:cNvSpPr>
          <p:nvPr>
            <p:ph type="ctrTitle"/>
          </p:nvPr>
        </p:nvSpPr>
        <p:spPr/>
        <p:txBody>
          <a:bodyPr/>
          <a:lstStyle/>
          <a:p>
            <a:r>
              <a:rPr lang="en-US" dirty="0"/>
              <a:t>COMP-SCI 5565</a:t>
            </a:r>
            <a:br>
              <a:rPr lang="en-US" dirty="0"/>
            </a:br>
            <a:r>
              <a:rPr lang="en-US" dirty="0"/>
              <a:t>Assignment 3</a:t>
            </a:r>
          </a:p>
        </p:txBody>
      </p:sp>
      <p:sp>
        <p:nvSpPr>
          <p:cNvPr id="3" name="Subtitle 2">
            <a:extLst>
              <a:ext uri="{FF2B5EF4-FFF2-40B4-BE49-F238E27FC236}">
                <a16:creationId xmlns:a16="http://schemas.microsoft.com/office/drawing/2014/main" id="{EA4FC53E-58B2-9F53-F302-5D6F7AF7D6B9}"/>
              </a:ext>
            </a:extLst>
          </p:cNvPr>
          <p:cNvSpPr>
            <a:spLocks noGrp="1"/>
          </p:cNvSpPr>
          <p:nvPr>
            <p:ph type="subTitle" idx="1"/>
          </p:nvPr>
        </p:nvSpPr>
        <p:spPr/>
        <p:txBody>
          <a:bodyPr>
            <a:normAutofit lnSpcReduction="10000"/>
          </a:bodyPr>
          <a:lstStyle/>
          <a:p>
            <a:r>
              <a:rPr lang="en-US" dirty="0"/>
              <a:t>Stat Learning:</a:t>
            </a:r>
          </a:p>
          <a:p>
            <a:r>
              <a:rPr lang="en-US" dirty="0"/>
              <a:t>Features Selection &amp; Classification</a:t>
            </a:r>
          </a:p>
          <a:p>
            <a:endParaRPr lang="en-US" dirty="0"/>
          </a:p>
          <a:p>
            <a:r>
              <a:rPr lang="en-US" dirty="0"/>
              <a:t>Analyst: Joel Vinas</a:t>
            </a:r>
          </a:p>
        </p:txBody>
      </p:sp>
    </p:spTree>
    <p:extLst>
      <p:ext uri="{BB962C8B-B14F-4D97-AF65-F5344CB8AC3E}">
        <p14:creationId xmlns:p14="http://schemas.microsoft.com/office/powerpoint/2010/main" val="2405378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7D87F-E5F1-6578-4702-018AD1941CF0}"/>
              </a:ext>
            </a:extLst>
          </p:cNvPr>
          <p:cNvSpPr>
            <a:spLocks noGrp="1"/>
          </p:cNvSpPr>
          <p:nvPr>
            <p:ph type="title"/>
          </p:nvPr>
        </p:nvSpPr>
        <p:spPr/>
        <p:txBody>
          <a:bodyPr/>
          <a:lstStyle/>
          <a:p>
            <a:r>
              <a:rPr lang="en-US" dirty="0"/>
              <a:t>Features Selection &amp; Classification</a:t>
            </a:r>
          </a:p>
        </p:txBody>
      </p:sp>
      <p:sp>
        <p:nvSpPr>
          <p:cNvPr id="3" name="Content Placeholder 2">
            <a:extLst>
              <a:ext uri="{FF2B5EF4-FFF2-40B4-BE49-F238E27FC236}">
                <a16:creationId xmlns:a16="http://schemas.microsoft.com/office/drawing/2014/main" id="{6C18C1A5-21C8-CD87-C691-5FDBF3BEDD74}"/>
              </a:ext>
            </a:extLst>
          </p:cNvPr>
          <p:cNvSpPr>
            <a:spLocks noGrp="1"/>
          </p:cNvSpPr>
          <p:nvPr>
            <p:ph idx="1"/>
          </p:nvPr>
        </p:nvSpPr>
        <p:spPr/>
        <p:txBody>
          <a:bodyPr/>
          <a:lstStyle/>
          <a:p>
            <a:r>
              <a:rPr lang="en-US" dirty="0"/>
              <a:t>Section 1: Cross-Validation &amp; Bootstrap</a:t>
            </a:r>
          </a:p>
          <a:p>
            <a:pPr lvl="1"/>
            <a:r>
              <a:rPr lang="en-US" dirty="0"/>
              <a:t>Automotive data </a:t>
            </a:r>
          </a:p>
          <a:p>
            <a:pPr lvl="2"/>
            <a:r>
              <a:rPr lang="en-US" dirty="0"/>
              <a:t>From ISLR2 - Introduction to Statistical Learning</a:t>
            </a:r>
          </a:p>
          <a:p>
            <a:pPr lvl="1"/>
            <a:endParaRPr lang="en-US" dirty="0"/>
          </a:p>
          <a:p>
            <a:pPr lvl="1"/>
            <a:endParaRPr lang="en-US" dirty="0"/>
          </a:p>
          <a:p>
            <a:r>
              <a:rPr lang="en-US" dirty="0"/>
              <a:t>Section 2: Classification</a:t>
            </a:r>
          </a:p>
          <a:p>
            <a:pPr lvl="1"/>
            <a:r>
              <a:rPr lang="en-US" dirty="0"/>
              <a:t>Wisconsin Breast Cancer Data</a:t>
            </a:r>
          </a:p>
          <a:p>
            <a:pPr lvl="1"/>
            <a:endParaRPr lang="en-US" dirty="0"/>
          </a:p>
          <a:p>
            <a:r>
              <a:rPr lang="en-US" dirty="0"/>
              <a:t>All resources available on GitHub</a:t>
            </a:r>
          </a:p>
          <a:p>
            <a:endParaRPr lang="en-US" dirty="0"/>
          </a:p>
        </p:txBody>
      </p:sp>
    </p:spTree>
    <p:extLst>
      <p:ext uri="{BB962C8B-B14F-4D97-AF65-F5344CB8AC3E}">
        <p14:creationId xmlns:p14="http://schemas.microsoft.com/office/powerpoint/2010/main" val="4052567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90F27-0CDE-B6B8-67D8-C7B3D56EBCA1}"/>
              </a:ext>
            </a:extLst>
          </p:cNvPr>
          <p:cNvSpPr>
            <a:spLocks noGrp="1"/>
          </p:cNvSpPr>
          <p:nvPr>
            <p:ph type="title"/>
          </p:nvPr>
        </p:nvSpPr>
        <p:spPr/>
        <p:txBody>
          <a:bodyPr/>
          <a:lstStyle/>
          <a:p>
            <a:r>
              <a:rPr lang="en-US" dirty="0"/>
              <a:t>Cross-Validation &amp; Bootstrap</a:t>
            </a:r>
          </a:p>
        </p:txBody>
      </p:sp>
      <p:sp>
        <p:nvSpPr>
          <p:cNvPr id="3" name="Content Placeholder 2">
            <a:extLst>
              <a:ext uri="{FF2B5EF4-FFF2-40B4-BE49-F238E27FC236}">
                <a16:creationId xmlns:a16="http://schemas.microsoft.com/office/drawing/2014/main" id="{292AB79E-9605-693B-1DA0-75A3916A84CC}"/>
              </a:ext>
            </a:extLst>
          </p:cNvPr>
          <p:cNvSpPr>
            <a:spLocks noGrp="1"/>
          </p:cNvSpPr>
          <p:nvPr>
            <p:ph idx="1"/>
          </p:nvPr>
        </p:nvSpPr>
        <p:spPr/>
        <p:txBody>
          <a:bodyPr>
            <a:normAutofit fontScale="62500" lnSpcReduction="20000"/>
          </a:bodyPr>
          <a:lstStyle/>
          <a:p>
            <a:r>
              <a:rPr lang="en-US" dirty="0"/>
              <a:t>The test rates for a quadratic exceed those of the Cubic.</a:t>
            </a:r>
          </a:p>
          <a:p>
            <a:pPr lvl="1"/>
            <a:r>
              <a:rPr lang="en-US" dirty="0"/>
              <a:t>Although not required, the linear values are provided for reference</a:t>
            </a:r>
          </a:p>
          <a:p>
            <a:r>
              <a:rPr lang="en-US" dirty="0"/>
              <a:t>Instead of ½, I’ve selected 1/5, 1/7 and 1/9  as the new ratio.</a:t>
            </a:r>
          </a:p>
          <a:p>
            <a:pPr lvl="1"/>
            <a:r>
              <a:rPr lang="en-US" dirty="0"/>
              <a:t>Although the instructions say to use the best performing (quadratic), in order to compare the differences, I’ve written the code to run against all 3 poly fits</a:t>
            </a:r>
          </a:p>
          <a:p>
            <a:pPr lvl="1"/>
            <a:r>
              <a:rPr lang="en-US" dirty="0"/>
              <a:t>This is run as part of a loop for ease of code. </a:t>
            </a:r>
          </a:p>
          <a:p>
            <a:pPr lvl="1"/>
            <a:r>
              <a:rPr lang="en-US" dirty="0"/>
              <a:t>It would have been nice to have this in a table or chart as opposed to the text</a:t>
            </a:r>
          </a:p>
          <a:p>
            <a:pPr lvl="1"/>
            <a:r>
              <a:rPr lang="en-US" dirty="0"/>
              <a:t>This would have shown the curious dip that the quadratic results produced with the 14% (1/7) ratio – while the other poly fits had clearly growing (or shrinking) values</a:t>
            </a:r>
          </a:p>
          <a:p>
            <a:r>
              <a:rPr lang="en-US" dirty="0"/>
              <a:t>For question 3, rather than a comparison of mpg vs horsepower, I used mpg vs weight</a:t>
            </a:r>
          </a:p>
          <a:p>
            <a:pPr lvl="1"/>
            <a:r>
              <a:rPr lang="en-US" dirty="0"/>
              <a:t>The values here were fairly consistent across the spread</a:t>
            </a:r>
          </a:p>
          <a:p>
            <a:r>
              <a:rPr lang="en-US" dirty="0"/>
              <a:t>For the 5-fold and 10-fold cross-validation in question 4, I compared mpg to acceleration</a:t>
            </a:r>
          </a:p>
          <a:p>
            <a:pPr lvl="1"/>
            <a:r>
              <a:rPr lang="en-US" dirty="0"/>
              <a:t>Although the mean isn’t calculated, the values across the 8 runs were fairly consistent</a:t>
            </a:r>
          </a:p>
          <a:p>
            <a:r>
              <a:rPr lang="en-US" dirty="0"/>
              <a:t>For question 5, I iterated across a list of sample sizes to make the code a bit more repeatable</a:t>
            </a:r>
          </a:p>
          <a:p>
            <a:pPr lvl="1"/>
            <a:r>
              <a:rPr lang="en-US" dirty="0"/>
              <a:t>I also spent a bit of time to determine how to derive and store the values of the bias and standard deviation to produce better reporting</a:t>
            </a:r>
          </a:p>
          <a:p>
            <a:pPr lvl="1"/>
            <a:r>
              <a:rPr lang="en-US" dirty="0"/>
              <a:t>The original sample size was 392 vehicles. As the samples approach this quantity, the error decreases, increasing as the total samples drift from this value. This aligns with how the bootstrap method works.</a:t>
            </a:r>
          </a:p>
        </p:txBody>
      </p:sp>
    </p:spTree>
    <p:extLst>
      <p:ext uri="{BB962C8B-B14F-4D97-AF65-F5344CB8AC3E}">
        <p14:creationId xmlns:p14="http://schemas.microsoft.com/office/powerpoint/2010/main" val="2592708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9E083-A7E5-24D5-AE06-E0F02DEFD3D2}"/>
              </a:ext>
            </a:extLst>
          </p:cNvPr>
          <p:cNvSpPr>
            <a:spLocks noGrp="1"/>
          </p:cNvSpPr>
          <p:nvPr>
            <p:ph type="title"/>
          </p:nvPr>
        </p:nvSpPr>
        <p:spPr/>
        <p:txBody>
          <a:bodyPr/>
          <a:lstStyle/>
          <a:p>
            <a:r>
              <a:rPr lang="en-US" dirty="0"/>
              <a:t>Section 2: Classification</a:t>
            </a:r>
          </a:p>
        </p:txBody>
      </p:sp>
      <p:sp>
        <p:nvSpPr>
          <p:cNvPr id="4" name="Text Placeholder 3">
            <a:extLst>
              <a:ext uri="{FF2B5EF4-FFF2-40B4-BE49-F238E27FC236}">
                <a16:creationId xmlns:a16="http://schemas.microsoft.com/office/drawing/2014/main" id="{67D7A727-1E19-DEB0-E532-E06D139357A4}"/>
              </a:ext>
            </a:extLst>
          </p:cNvPr>
          <p:cNvSpPr>
            <a:spLocks noGrp="1"/>
          </p:cNvSpPr>
          <p:nvPr>
            <p:ph type="body" sz="half" idx="2"/>
          </p:nvPr>
        </p:nvSpPr>
        <p:spPr/>
        <p:txBody>
          <a:bodyPr>
            <a:normAutofit fontScale="92500" lnSpcReduction="20000"/>
          </a:bodyPr>
          <a:lstStyle/>
          <a:p>
            <a:r>
              <a:rPr lang="en-US" dirty="0"/>
              <a:t>During the discovery phase, I learned that.</a:t>
            </a:r>
          </a:p>
          <a:p>
            <a:r>
              <a:rPr lang="en-US" dirty="0"/>
              <a:t>The </a:t>
            </a:r>
            <a:r>
              <a:rPr lang="en-US" dirty="0" err="1"/>
              <a:t>Wisconson</a:t>
            </a:r>
            <a:r>
              <a:rPr lang="en-US" dirty="0"/>
              <a:t> Breast Cancer data (abbreviated throughout the code as </a:t>
            </a:r>
            <a:r>
              <a:rPr lang="en-US" dirty="0" err="1"/>
              <a:t>wbcd</a:t>
            </a:r>
            <a:r>
              <a:rPr lang="en-US" dirty="0"/>
              <a:t>) was a dataset, available through Kaggle, which were computed from digitized images. </a:t>
            </a:r>
          </a:p>
          <a:p>
            <a:r>
              <a:rPr lang="en-US" dirty="0"/>
              <a:t>Notably, the data was separated by planes, which my code defines as “Dimensions”.</a:t>
            </a:r>
          </a:p>
          <a:p>
            <a:r>
              <a:rPr lang="en-US" dirty="0"/>
              <a:t>Each record relates to a specific sample, but since each plane distinctly assesses the 3-dimensional space, I’ve chosen to complete this exercise by comparing the planes (or dimensions) independently.</a:t>
            </a:r>
          </a:p>
          <a:p>
            <a:r>
              <a:rPr lang="en-US" dirty="0"/>
              <a:t>Each sample was either M for Malignant or B for Benign.</a:t>
            </a:r>
          </a:p>
          <a:p>
            <a:r>
              <a:rPr lang="en-US" dirty="0"/>
              <a:t>Practically speaking, since we’re talking about cells, there isn’t an up or down. There isn’t a way to practically align the sample cells so that each dimension (1 thru 3) has innate significance.</a:t>
            </a:r>
          </a:p>
          <a:p>
            <a:endParaRPr lang="en-US" dirty="0"/>
          </a:p>
        </p:txBody>
      </p:sp>
      <p:pic>
        <p:nvPicPr>
          <p:cNvPr id="7" name="Content Placeholder 6" descr="A collage of cells with different colors&#10;&#10;AI-generated content may be incorrect.">
            <a:extLst>
              <a:ext uri="{FF2B5EF4-FFF2-40B4-BE49-F238E27FC236}">
                <a16:creationId xmlns:a16="http://schemas.microsoft.com/office/drawing/2014/main" id="{E6DD59C0-045F-26FC-91DF-1639C0C6361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83188" y="1769745"/>
            <a:ext cx="6172200" cy="3308984"/>
          </a:xfrm>
          <a:prstGeom prst="rect">
            <a:avLst/>
          </a:prstGeom>
        </p:spPr>
      </p:pic>
    </p:spTree>
    <p:extLst>
      <p:ext uri="{BB962C8B-B14F-4D97-AF65-F5344CB8AC3E}">
        <p14:creationId xmlns:p14="http://schemas.microsoft.com/office/powerpoint/2010/main" val="2533985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EBC62-F764-5625-BBC1-E2F9C76A70ED}"/>
              </a:ext>
            </a:extLst>
          </p:cNvPr>
          <p:cNvSpPr>
            <a:spLocks noGrp="1"/>
          </p:cNvSpPr>
          <p:nvPr>
            <p:ph type="title"/>
          </p:nvPr>
        </p:nvSpPr>
        <p:spPr/>
        <p:txBody>
          <a:bodyPr/>
          <a:lstStyle/>
          <a:p>
            <a:r>
              <a:rPr lang="en-US" dirty="0"/>
              <a:t>Classification</a:t>
            </a:r>
          </a:p>
        </p:txBody>
      </p:sp>
      <p:sp>
        <p:nvSpPr>
          <p:cNvPr id="6" name="Content Placeholder 5">
            <a:extLst>
              <a:ext uri="{FF2B5EF4-FFF2-40B4-BE49-F238E27FC236}">
                <a16:creationId xmlns:a16="http://schemas.microsoft.com/office/drawing/2014/main" id="{F3F434DA-A84F-C795-41F8-5B1599B4B130}"/>
              </a:ext>
            </a:extLst>
          </p:cNvPr>
          <p:cNvSpPr>
            <a:spLocks noGrp="1"/>
          </p:cNvSpPr>
          <p:nvPr>
            <p:ph idx="1"/>
          </p:nvPr>
        </p:nvSpPr>
        <p:spPr/>
        <p:txBody>
          <a:bodyPr/>
          <a:lstStyle/>
          <a:p>
            <a:r>
              <a:rPr lang="en-US" dirty="0"/>
              <a:t>Ingestion:</a:t>
            </a:r>
          </a:p>
          <a:p>
            <a:pPr lvl="1"/>
            <a:r>
              <a:rPr lang="en-US" dirty="0"/>
              <a:t>The first step was to provide access to the data file directly</a:t>
            </a:r>
          </a:p>
          <a:p>
            <a:pPr lvl="1"/>
            <a:r>
              <a:rPr lang="en-US" dirty="0"/>
              <a:t>Adding headers to this raw dataset</a:t>
            </a:r>
          </a:p>
          <a:p>
            <a:pPr lvl="1"/>
            <a:r>
              <a:rPr lang="en-US" dirty="0"/>
              <a:t>Then forcing the “Diagnosis” value to numeric (1) for values of M</a:t>
            </a:r>
          </a:p>
          <a:p>
            <a:pPr lvl="1"/>
            <a:r>
              <a:rPr lang="en-US" dirty="0"/>
              <a:t>I flipped a coin to select a 5-fold analysis, and added this as a field to the raw dataset</a:t>
            </a:r>
          </a:p>
          <a:p>
            <a:pPr lvl="1"/>
            <a:r>
              <a:rPr lang="en-US" dirty="0"/>
              <a:t>I then split the dataset, by columns, into Dimension 1, 2, and 3 for the three planes, ensuring that each subset had consistent headers</a:t>
            </a:r>
          </a:p>
          <a:p>
            <a:pPr lvl="1"/>
            <a:r>
              <a:rPr lang="en-US" dirty="0"/>
              <a:t>The head (or first 6 rows of data) are displayed to better grasp the data used.</a:t>
            </a:r>
          </a:p>
          <a:p>
            <a:pPr lvl="1"/>
            <a:endParaRPr lang="en-US" dirty="0"/>
          </a:p>
        </p:txBody>
      </p:sp>
    </p:spTree>
    <p:extLst>
      <p:ext uri="{BB962C8B-B14F-4D97-AF65-F5344CB8AC3E}">
        <p14:creationId xmlns:p14="http://schemas.microsoft.com/office/powerpoint/2010/main" val="2421345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9E64-DB7A-78E2-3F80-F9CD95438603}"/>
              </a:ext>
            </a:extLst>
          </p:cNvPr>
          <p:cNvSpPr>
            <a:spLocks noGrp="1"/>
          </p:cNvSpPr>
          <p:nvPr>
            <p:ph type="title"/>
          </p:nvPr>
        </p:nvSpPr>
        <p:spPr/>
        <p:txBody>
          <a:bodyPr/>
          <a:lstStyle/>
          <a:p>
            <a:r>
              <a:rPr lang="en-US" dirty="0"/>
              <a:t>Classification – Question 1</a:t>
            </a:r>
          </a:p>
        </p:txBody>
      </p:sp>
      <p:sp>
        <p:nvSpPr>
          <p:cNvPr id="3" name="Content Placeholder 2">
            <a:extLst>
              <a:ext uri="{FF2B5EF4-FFF2-40B4-BE49-F238E27FC236}">
                <a16:creationId xmlns:a16="http://schemas.microsoft.com/office/drawing/2014/main" id="{23A622F2-87C9-3897-E1DC-18BBBDD2A84D}"/>
              </a:ext>
            </a:extLst>
          </p:cNvPr>
          <p:cNvSpPr>
            <a:spLocks noGrp="1"/>
          </p:cNvSpPr>
          <p:nvPr>
            <p:ph idx="1"/>
          </p:nvPr>
        </p:nvSpPr>
        <p:spPr/>
        <p:txBody>
          <a:bodyPr>
            <a:normAutofit/>
          </a:bodyPr>
          <a:lstStyle/>
          <a:p>
            <a:r>
              <a:rPr lang="en-US" dirty="0"/>
              <a:t>To determine if the distributions are well suited to classification tasks, I produced a pairs plot for each of the dimensions.</a:t>
            </a:r>
          </a:p>
          <a:p>
            <a:endParaRPr lang="en-US" dirty="0"/>
          </a:p>
          <a:p>
            <a:r>
              <a:rPr lang="en-US" dirty="0"/>
              <a:t>Following the guide, I then iterated through the 3 dimensions to display the summary of the fit of the generalized linear model</a:t>
            </a:r>
          </a:p>
          <a:p>
            <a:pPr lvl="1"/>
            <a:r>
              <a:rPr lang="en-US" dirty="0"/>
              <a:t>It is interesting to note that, as predicted, different parameters displayed distinct coefficients and z values, by dimension</a:t>
            </a:r>
          </a:p>
          <a:p>
            <a:pPr lvl="1"/>
            <a:r>
              <a:rPr lang="en-US" dirty="0"/>
              <a:t>Texture was consistently a top parameter</a:t>
            </a:r>
          </a:p>
          <a:p>
            <a:endParaRPr lang="en-US" dirty="0"/>
          </a:p>
        </p:txBody>
      </p:sp>
    </p:spTree>
    <p:extLst>
      <p:ext uri="{BB962C8B-B14F-4D97-AF65-F5344CB8AC3E}">
        <p14:creationId xmlns:p14="http://schemas.microsoft.com/office/powerpoint/2010/main" val="3530850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55BC9-7D85-411E-AE1B-4E2A0B249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5DAE1-260B-8651-AAA8-6948439D1015}"/>
              </a:ext>
            </a:extLst>
          </p:cNvPr>
          <p:cNvSpPr>
            <a:spLocks noGrp="1"/>
          </p:cNvSpPr>
          <p:nvPr>
            <p:ph type="title"/>
          </p:nvPr>
        </p:nvSpPr>
        <p:spPr/>
        <p:txBody>
          <a:bodyPr/>
          <a:lstStyle/>
          <a:p>
            <a:r>
              <a:rPr lang="en-US" dirty="0"/>
              <a:t>Classification – Question 1</a:t>
            </a:r>
          </a:p>
        </p:txBody>
      </p:sp>
      <p:sp>
        <p:nvSpPr>
          <p:cNvPr id="3" name="Content Placeholder 2">
            <a:extLst>
              <a:ext uri="{FF2B5EF4-FFF2-40B4-BE49-F238E27FC236}">
                <a16:creationId xmlns:a16="http://schemas.microsoft.com/office/drawing/2014/main" id="{88FF31D9-28CF-782A-22A4-D506D1DC1737}"/>
              </a:ext>
            </a:extLst>
          </p:cNvPr>
          <p:cNvSpPr>
            <a:spLocks noGrp="1"/>
          </p:cNvSpPr>
          <p:nvPr>
            <p:ph sz="half" idx="1"/>
          </p:nvPr>
        </p:nvSpPr>
        <p:spPr/>
        <p:txBody>
          <a:bodyPr>
            <a:normAutofit fontScale="77500" lnSpcReduction="20000"/>
          </a:bodyPr>
          <a:lstStyle/>
          <a:p>
            <a:r>
              <a:rPr lang="en-US" dirty="0"/>
              <a:t>It took a bit of wrangling, but I managed to produce a single chart which showed a side-by-side comparison for each parameter, of the plot mentioned in the geeks for geeks link.</a:t>
            </a:r>
          </a:p>
          <a:p>
            <a:r>
              <a:rPr lang="en-US" dirty="0"/>
              <a:t>The variation in the sigmoid across parameters and dimensions really highlights the difference of measurements in each dimension.</a:t>
            </a:r>
          </a:p>
          <a:p>
            <a:r>
              <a:rPr lang="en-US" dirty="0"/>
              <a:t>Again, we can’t presume that Dim 1 vs Dim 3 has significance – the cells are simply recorded based on the random rotation they had when scanned. They weren’t pre-rotated to be consistently “facing up”</a:t>
            </a:r>
          </a:p>
          <a:p>
            <a:endParaRPr lang="en-US" dirty="0"/>
          </a:p>
          <a:p>
            <a:endParaRPr lang="en-US" dirty="0"/>
          </a:p>
        </p:txBody>
      </p:sp>
      <p:pic>
        <p:nvPicPr>
          <p:cNvPr id="6" name="Content Placeholder 5" descr="A group of graphs showing different types of data&#10;&#10;AI-generated content may be incorrect.">
            <a:extLst>
              <a:ext uri="{FF2B5EF4-FFF2-40B4-BE49-F238E27FC236}">
                <a16:creationId xmlns:a16="http://schemas.microsoft.com/office/drawing/2014/main" id="{5E015A20-93B8-E938-52AB-7253BA4E0EA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87331" y="1825625"/>
            <a:ext cx="4351338" cy="4351338"/>
          </a:xfrm>
        </p:spPr>
      </p:pic>
    </p:spTree>
    <p:extLst>
      <p:ext uri="{BB962C8B-B14F-4D97-AF65-F5344CB8AC3E}">
        <p14:creationId xmlns:p14="http://schemas.microsoft.com/office/powerpoint/2010/main" val="287922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00CB26-359D-9683-2E7A-C68A47ECCB28}"/>
              </a:ext>
            </a:extLst>
          </p:cNvPr>
          <p:cNvSpPr>
            <a:spLocks noGrp="1"/>
          </p:cNvSpPr>
          <p:nvPr>
            <p:ph type="title"/>
          </p:nvPr>
        </p:nvSpPr>
        <p:spPr/>
        <p:txBody>
          <a:bodyPr/>
          <a:lstStyle/>
          <a:p>
            <a:r>
              <a:rPr lang="en-US" dirty="0"/>
              <a:t>Classification – Question 1</a:t>
            </a:r>
          </a:p>
        </p:txBody>
      </p:sp>
      <p:sp>
        <p:nvSpPr>
          <p:cNvPr id="6" name="Content Placeholder 5">
            <a:extLst>
              <a:ext uri="{FF2B5EF4-FFF2-40B4-BE49-F238E27FC236}">
                <a16:creationId xmlns:a16="http://schemas.microsoft.com/office/drawing/2014/main" id="{89C346BE-D0D7-6E4C-4C70-511DD0CC2F95}"/>
              </a:ext>
            </a:extLst>
          </p:cNvPr>
          <p:cNvSpPr>
            <a:spLocks noGrp="1"/>
          </p:cNvSpPr>
          <p:nvPr>
            <p:ph idx="1"/>
          </p:nvPr>
        </p:nvSpPr>
        <p:spPr/>
        <p:txBody>
          <a:bodyPr>
            <a:normAutofit fontScale="62500" lnSpcReduction="20000"/>
          </a:bodyPr>
          <a:lstStyle/>
          <a:p>
            <a:r>
              <a:rPr lang="en-US" dirty="0"/>
              <a:t>Following the guide in Geeks for Geeks, I continued with the analysis, providing the summary of fits for the generalized linear model’s coefficients, and ten tests of the probability of a response</a:t>
            </a:r>
          </a:p>
          <a:p>
            <a:r>
              <a:rPr lang="en-US" dirty="0"/>
              <a:t>Rather than running one binary test for each parameter for each plane, I ran this with all parameters.</a:t>
            </a:r>
          </a:p>
          <a:p>
            <a:pPr lvl="1"/>
            <a:r>
              <a:rPr lang="en-US" dirty="0"/>
              <a:t>This was done mostly to push my code skillset and to see the results which would be knowingly an overfit.</a:t>
            </a:r>
          </a:p>
          <a:p>
            <a:r>
              <a:rPr lang="en-US" dirty="0"/>
              <a:t>I then displayed the confusion matrix for the results</a:t>
            </a:r>
          </a:p>
          <a:p>
            <a:r>
              <a:rPr lang="en-US" dirty="0"/>
              <a:t>The report concluded with the mean of the prediction</a:t>
            </a:r>
          </a:p>
          <a:p>
            <a:r>
              <a:rPr lang="en-US" dirty="0"/>
              <a:t>These steps were repeated independently for each of the dimensions (or planes)</a:t>
            </a:r>
          </a:p>
          <a:p>
            <a:r>
              <a:rPr lang="en-US" dirty="0"/>
              <a:t>Again, it was interesting to note the variation of the coefficient and significance as the model sampled each of the sub-datasets.</a:t>
            </a:r>
          </a:p>
          <a:p>
            <a:r>
              <a:rPr lang="en-US" dirty="0"/>
              <a:t>At first glance, the results of this logistic regression were excellent, with means of 94.8%, 89.9% and 98.0% for the three dimensions.</a:t>
            </a:r>
          </a:p>
          <a:p>
            <a:r>
              <a:rPr lang="en-US" dirty="0"/>
              <a:t>We discussed in class how this was due to overfitting, so I re-ran the analysis, using the k-fold technique, training against 1/5</a:t>
            </a:r>
            <a:r>
              <a:rPr lang="en-US" baseline="30000" dirty="0"/>
              <a:t>th</a:t>
            </a:r>
            <a:r>
              <a:rPr lang="en-US" dirty="0"/>
              <a:t> of the data and testing against the remaining 5</a:t>
            </a:r>
            <a:r>
              <a:rPr lang="en-US" baseline="30000" dirty="0"/>
              <a:t>th</a:t>
            </a:r>
          </a:p>
          <a:p>
            <a:r>
              <a:rPr lang="en-US" dirty="0"/>
              <a:t>Although this method results in much more pessimistic results, it was clear from the miserable test results vs the remarkable training results that the model was overfitting using the logistic regression method mapped to all parameters.</a:t>
            </a:r>
          </a:p>
        </p:txBody>
      </p:sp>
    </p:spTree>
    <p:extLst>
      <p:ext uri="{BB962C8B-B14F-4D97-AF65-F5344CB8AC3E}">
        <p14:creationId xmlns:p14="http://schemas.microsoft.com/office/powerpoint/2010/main" val="969502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41097-FD63-5C95-9848-526F47E810A6}"/>
              </a:ext>
            </a:extLst>
          </p:cNvPr>
          <p:cNvSpPr>
            <a:spLocks noGrp="1"/>
          </p:cNvSpPr>
          <p:nvPr>
            <p:ph type="title"/>
          </p:nvPr>
        </p:nvSpPr>
        <p:spPr/>
        <p:txBody>
          <a:bodyPr/>
          <a:lstStyle/>
          <a:p>
            <a:r>
              <a:rPr lang="en-US" dirty="0"/>
              <a:t>Classification – Question 2</a:t>
            </a:r>
          </a:p>
        </p:txBody>
      </p:sp>
      <p:sp>
        <p:nvSpPr>
          <p:cNvPr id="8" name="Content Placeholder 7">
            <a:extLst>
              <a:ext uri="{FF2B5EF4-FFF2-40B4-BE49-F238E27FC236}">
                <a16:creationId xmlns:a16="http://schemas.microsoft.com/office/drawing/2014/main" id="{6EACA3FC-B948-133A-4022-96FD15CCD987}"/>
              </a:ext>
            </a:extLst>
          </p:cNvPr>
          <p:cNvSpPr>
            <a:spLocks noGrp="1"/>
          </p:cNvSpPr>
          <p:nvPr>
            <p:ph idx="1"/>
          </p:nvPr>
        </p:nvSpPr>
        <p:spPr/>
        <p:txBody>
          <a:bodyPr>
            <a:normAutofit fontScale="77500" lnSpcReduction="20000"/>
          </a:bodyPr>
          <a:lstStyle/>
          <a:p>
            <a:r>
              <a:rPr lang="en-US" dirty="0"/>
              <a:t>Following the guide, I applied the linear discriminate method.</a:t>
            </a:r>
          </a:p>
          <a:p>
            <a:r>
              <a:rPr lang="en-US" dirty="0"/>
              <a:t>To be consistent and fair, I did this against all parameters – just like in the logistic regression</a:t>
            </a:r>
          </a:p>
          <a:p>
            <a:r>
              <a:rPr lang="en-US" dirty="0"/>
              <a:t>Since my last analysis had used the 5-fold data, I repeated this method</a:t>
            </a:r>
          </a:p>
          <a:p>
            <a:r>
              <a:rPr lang="en-US" dirty="0"/>
              <a:t>The resulting graphs showed consistent left vs right alignment across the data samples for each of the three planes.</a:t>
            </a:r>
          </a:p>
          <a:p>
            <a:r>
              <a:rPr lang="en-US" dirty="0"/>
              <a:t>It was far from perfect, but it was certainly curious to see how the coefficients were fairly homogenous within a plane, but distinct across planes.</a:t>
            </a:r>
          </a:p>
          <a:p>
            <a:pPr lvl="1"/>
            <a:r>
              <a:rPr lang="en-US" dirty="0"/>
              <a:t>For example, for Plane 1, “Concave Points” had constantly high coefficients, for Plane 2 there were no consistently meaningful winners, and for Plane 3, “Fractal Dimension” and “Smoothness” were consistently high.</a:t>
            </a:r>
          </a:p>
          <a:p>
            <a:pPr lvl="1"/>
            <a:r>
              <a:rPr lang="en-US" dirty="0"/>
              <a:t>This promotes the concept that there was some meaning to the planes</a:t>
            </a:r>
          </a:p>
          <a:p>
            <a:pPr lvl="1"/>
            <a:r>
              <a:rPr lang="en-US" dirty="0"/>
              <a:t>It also highlights what we discussed in class - just how touchy the randomly selected k-fold data can be</a:t>
            </a:r>
          </a:p>
        </p:txBody>
      </p:sp>
    </p:spTree>
    <p:extLst>
      <p:ext uri="{BB962C8B-B14F-4D97-AF65-F5344CB8AC3E}">
        <p14:creationId xmlns:p14="http://schemas.microsoft.com/office/powerpoint/2010/main" val="3317431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D304B-F31B-B590-EC46-447E4E745B78}"/>
              </a:ext>
            </a:extLst>
          </p:cNvPr>
          <p:cNvSpPr>
            <a:spLocks noGrp="1"/>
          </p:cNvSpPr>
          <p:nvPr>
            <p:ph type="title"/>
          </p:nvPr>
        </p:nvSpPr>
        <p:spPr/>
        <p:txBody>
          <a:bodyPr/>
          <a:lstStyle/>
          <a:p>
            <a:r>
              <a:rPr lang="en-US" dirty="0"/>
              <a:t>Classification – Question 3</a:t>
            </a:r>
          </a:p>
        </p:txBody>
      </p:sp>
      <p:sp>
        <p:nvSpPr>
          <p:cNvPr id="3" name="Content Placeholder 2">
            <a:extLst>
              <a:ext uri="{FF2B5EF4-FFF2-40B4-BE49-F238E27FC236}">
                <a16:creationId xmlns:a16="http://schemas.microsoft.com/office/drawing/2014/main" id="{90D785B5-4169-F1D7-86EE-1449D2393F56}"/>
              </a:ext>
            </a:extLst>
          </p:cNvPr>
          <p:cNvSpPr>
            <a:spLocks noGrp="1"/>
          </p:cNvSpPr>
          <p:nvPr>
            <p:ph idx="1"/>
          </p:nvPr>
        </p:nvSpPr>
        <p:spPr/>
        <p:txBody>
          <a:bodyPr>
            <a:normAutofit fontScale="85000" lnSpcReduction="20000"/>
          </a:bodyPr>
          <a:lstStyle/>
          <a:p>
            <a:r>
              <a:rPr lang="en-US" dirty="0"/>
              <a:t>For consistency, I continued with the data used in the previous analysis.</a:t>
            </a:r>
          </a:p>
          <a:p>
            <a:r>
              <a:rPr lang="en-US" dirty="0"/>
              <a:t>I found help online for a KNN Classification and used 5 features which were selected due to their coefficients and p-values being interesting</a:t>
            </a:r>
          </a:p>
          <a:p>
            <a:pPr lvl="1"/>
            <a:r>
              <a:rPr lang="en-US" dirty="0"/>
              <a:t>It would have been nice to have been more objective about the feature selection, as well as have it distinct across each panel</a:t>
            </a:r>
          </a:p>
          <a:p>
            <a:r>
              <a:rPr lang="en-US" dirty="0"/>
              <a:t>Since we’d already broken the data into 5 parts, I used 1/5</a:t>
            </a:r>
            <a:r>
              <a:rPr lang="en-US" baseline="30000" dirty="0"/>
              <a:t>th</a:t>
            </a:r>
            <a:r>
              <a:rPr lang="en-US" dirty="0"/>
              <a:t> as the test set size</a:t>
            </a:r>
          </a:p>
          <a:p>
            <a:r>
              <a:rPr lang="en-US" dirty="0"/>
              <a:t>After iterating through each fold of each panel, I got the mean of the results:</a:t>
            </a:r>
          </a:p>
          <a:p>
            <a:pPr lvl="1"/>
            <a:r>
              <a:rPr lang="en-US" dirty="0"/>
              <a:t>91.5% for Dimension 1</a:t>
            </a:r>
          </a:p>
          <a:p>
            <a:pPr lvl="1"/>
            <a:r>
              <a:rPr lang="en-US" dirty="0"/>
              <a:t>83.6% for Dimension 2</a:t>
            </a:r>
          </a:p>
          <a:p>
            <a:pPr lvl="1"/>
            <a:r>
              <a:rPr lang="en-US" dirty="0"/>
              <a:t>97.2% for Dimension 3</a:t>
            </a:r>
          </a:p>
          <a:p>
            <a:r>
              <a:rPr lang="en-US" dirty="0"/>
              <a:t>Although I wasn’t perfectly objective in my selection of features, it seems clear that the selected features were quite good in classifying the diagnosis.</a:t>
            </a:r>
          </a:p>
          <a:p>
            <a:endParaRPr lang="en-US" dirty="0"/>
          </a:p>
        </p:txBody>
      </p:sp>
    </p:spTree>
    <p:extLst>
      <p:ext uri="{BB962C8B-B14F-4D97-AF65-F5344CB8AC3E}">
        <p14:creationId xmlns:p14="http://schemas.microsoft.com/office/powerpoint/2010/main" val="3823330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1350</Words>
  <Application>Microsoft Office PowerPoint</Application>
  <PresentationFormat>Widescreen</PresentationFormat>
  <Paragraphs>91</Paragraphs>
  <Slides>10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COMP-SCI 5565 Assignment 3</vt:lpstr>
      <vt:lpstr>Features Selection &amp; Classification</vt:lpstr>
      <vt:lpstr>Cross-Validation &amp; Bootstrap</vt:lpstr>
      <vt:lpstr>Section 2: Classification</vt:lpstr>
      <vt:lpstr>Classification</vt:lpstr>
      <vt:lpstr>Classification – Question 1</vt:lpstr>
      <vt:lpstr>Classification – Question 1</vt:lpstr>
      <vt:lpstr>Classification – Question 1</vt:lpstr>
      <vt:lpstr>Classification – Question 2</vt:lpstr>
      <vt:lpstr>Classification – Question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Joel Vinas</dc:creator>
  <cp:lastModifiedBy>Joel Vinas</cp:lastModifiedBy>
  <cp:revision>5</cp:revision>
  <dcterms:created xsi:type="dcterms:W3CDTF">2025-12-04T02:35:12Z</dcterms:created>
  <dcterms:modified xsi:type="dcterms:W3CDTF">2025-12-04T06:10:59Z</dcterms:modified>
</cp:coreProperties>
</file>